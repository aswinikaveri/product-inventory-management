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2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8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3D817-D53D-4F5F-BCF6-D330D4A572D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3BB59-07DC-4C7F-B87C-D94896303C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08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3D817-D53D-4F5F-BCF6-D330D4A572D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3BB59-07DC-4C7F-B87C-D94896303C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519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3D817-D53D-4F5F-BCF6-D330D4A572D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3BB59-07DC-4C7F-B87C-D94896303C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780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3D817-D53D-4F5F-BCF6-D330D4A572D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3BB59-07DC-4C7F-B87C-D94896303C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072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3D817-D53D-4F5F-BCF6-D330D4A572D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3BB59-07DC-4C7F-B87C-D94896303C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070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3D817-D53D-4F5F-BCF6-D330D4A572D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3BB59-07DC-4C7F-B87C-D94896303C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327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3D817-D53D-4F5F-BCF6-D330D4A572D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3BB59-07DC-4C7F-B87C-D94896303C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586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3D817-D53D-4F5F-BCF6-D330D4A572D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3BB59-07DC-4C7F-B87C-D94896303C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061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3BB59-07DC-4C7F-B87C-D94896303CBA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3D817-D53D-4F5F-BCF6-D330D4A572D0}" type="datetimeFigureOut">
              <a:rPr lang="en-IN" smtClean="0"/>
              <a:t>03-03-2026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070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3D817-D53D-4F5F-BCF6-D330D4A572D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3BB59-07DC-4C7F-B87C-D94896303C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252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3D817-D53D-4F5F-BCF6-D330D4A572D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3BB59-07DC-4C7F-B87C-D94896303CB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2780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3D817-D53D-4F5F-BCF6-D330D4A572D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3BB59-07DC-4C7F-B87C-D94896303C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8165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3D817-D53D-4F5F-BCF6-D330D4A572D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3BB59-07DC-4C7F-B87C-D94896303CB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0891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3D817-D53D-4F5F-BCF6-D330D4A572D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3BB59-07DC-4C7F-B87C-D94896303C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1148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3D817-D53D-4F5F-BCF6-D330D4A572D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3BB59-07DC-4C7F-B87C-D94896303C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19181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3D817-D53D-4F5F-BCF6-D330D4A572D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3BB59-07DC-4C7F-B87C-D94896303C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1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3D817-D53D-4F5F-BCF6-D330D4A572D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7F3BB59-07DC-4C7F-B87C-D94896303C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84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server.js/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package.js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zEoMLKMtkVHu7TrsfLKtHW1sCxB5Thvd/view?usp=drive_link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rive.google.com/drive/folders/1cEyMX55znhIVkza-upiqR6tcwPRXLuQa?usp=sharing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9DE08F6-5C36-D414-0A16-B7012B927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586" y="0"/>
            <a:ext cx="8596668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u="sng" dirty="0" err="1"/>
              <a:t>ConnectHub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786CC7-99BA-AF78-03D8-21D758725A0E}"/>
              </a:ext>
            </a:extLst>
          </p:cNvPr>
          <p:cNvSpPr txBox="1"/>
          <p:nvPr/>
        </p:nvSpPr>
        <p:spPr>
          <a:xfrm>
            <a:off x="421106" y="786657"/>
            <a:ext cx="6104020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IN" sz="1800" b="1" kern="0" dirty="0">
                <a:effectLst/>
                <a:latin typeface="Arial" panose="020B0604020202020204" pitchFamily="34" charset="0"/>
              </a:rPr>
              <a:t>PROJECT OVERVIEW</a:t>
            </a:r>
            <a:endParaRPr lang="en-IN" sz="2800" b="1" kern="0" dirty="0"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24A137-58EF-A093-1B91-FB8B478166D7}"/>
              </a:ext>
            </a:extLst>
          </p:cNvPr>
          <p:cNvSpPr txBox="1"/>
          <p:nvPr/>
        </p:nvSpPr>
        <p:spPr>
          <a:xfrm>
            <a:off x="860598" y="1320800"/>
            <a:ext cx="10557816" cy="1020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 </a:t>
            </a:r>
            <a:r>
              <a:rPr lang="en-IN" sz="18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ConnectHub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is a backend web application designed to solve the common problem of scattered contact information across multiple platforms. It provides users with a centralized, organized system to store, search, and categorize their professional and personal contacts.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CE0B1F-B8F6-DF1B-FBF6-34B2310DF817}"/>
              </a:ext>
            </a:extLst>
          </p:cNvPr>
          <p:cNvSpPr txBox="1"/>
          <p:nvPr/>
        </p:nvSpPr>
        <p:spPr>
          <a:xfrm>
            <a:off x="421106" y="2341721"/>
            <a:ext cx="6104020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IN" sz="1800" b="1" dirty="0">
                <a:effectLst/>
                <a:latin typeface="Arial" panose="020B0604020202020204" pitchFamily="34" charset="0"/>
              </a:rPr>
              <a:t>Key Objectives:</a:t>
            </a:r>
            <a:endParaRPr lang="en-IN" sz="2800" b="1" dirty="0"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C3E47B-5CB8-95DF-F8B2-01E38A2C28E8}"/>
              </a:ext>
            </a:extLst>
          </p:cNvPr>
          <p:cNvSpPr txBox="1"/>
          <p:nvPr/>
        </p:nvSpPr>
        <p:spPr>
          <a:xfrm>
            <a:off x="421106" y="2886637"/>
            <a:ext cx="9508957" cy="1010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22860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       Provide secure user authentication and data isolation</a:t>
            </a:r>
          </a:p>
          <a:p>
            <a:pPr marL="685800" indent="-22860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       Enable efficient contact management through CRUD operations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E96595-C368-7651-385F-4528BCDBEE01}"/>
              </a:ext>
            </a:extLst>
          </p:cNvPr>
          <p:cNvSpPr txBox="1"/>
          <p:nvPr/>
        </p:nvSpPr>
        <p:spPr>
          <a:xfrm>
            <a:off x="421106" y="4057877"/>
            <a:ext cx="7567862" cy="148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22860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       Implement flexible categorization using tags</a:t>
            </a:r>
          </a:p>
          <a:p>
            <a:pPr marL="685800" indent="-22860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       Offer fast search and filtering capabilities</a:t>
            </a:r>
          </a:p>
          <a:p>
            <a:pPr marL="685800" indent="-228600">
              <a:lnSpc>
                <a:spcPct val="115000"/>
              </a:lnSpc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       Deliver a responsive, cross-device user experience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C221E2-6081-F01C-67E5-95CBDFB2EFEC}"/>
              </a:ext>
            </a:extLst>
          </p:cNvPr>
          <p:cNvSpPr txBox="1"/>
          <p:nvPr/>
        </p:nvSpPr>
        <p:spPr>
          <a:xfrm>
            <a:off x="421106" y="5879431"/>
            <a:ext cx="6104020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IN" sz="1800" b="1" dirty="0">
                <a:effectLst/>
                <a:latin typeface="Arial" panose="020B0604020202020204" pitchFamily="34" charset="0"/>
              </a:rPr>
              <a:t>Target Users:</a:t>
            </a:r>
            <a:endParaRPr lang="en-IN" sz="2800" b="1" dirty="0">
              <a:effectLst/>
              <a:latin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41974D-7CEB-768C-895E-6571A6ECD6B9}"/>
              </a:ext>
            </a:extLst>
          </p:cNvPr>
          <p:cNvSpPr txBox="1"/>
          <p:nvPr/>
        </p:nvSpPr>
        <p:spPr>
          <a:xfrm>
            <a:off x="421106" y="6410311"/>
            <a:ext cx="7920789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22860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       Freelancers and consultants managing client relationships</a:t>
            </a:r>
          </a:p>
        </p:txBody>
      </p:sp>
    </p:spTree>
    <p:extLst>
      <p:ext uri="{BB962C8B-B14F-4D97-AF65-F5344CB8AC3E}">
        <p14:creationId xmlns:p14="http://schemas.microsoft.com/office/powerpoint/2010/main" val="1792692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01FA84-FDF8-E9B4-DAC9-9AE0C90B0D3C}"/>
              </a:ext>
            </a:extLst>
          </p:cNvPr>
          <p:cNvSpPr txBox="1"/>
          <p:nvPr/>
        </p:nvSpPr>
        <p:spPr>
          <a:xfrm>
            <a:off x="641684" y="0"/>
            <a:ext cx="9156031" cy="220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22860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       Small business owners tracking vendor and customer contacts</a:t>
            </a:r>
          </a:p>
          <a:p>
            <a:pPr marL="685800" indent="-22860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       Students and young professionals building their network</a:t>
            </a:r>
          </a:p>
          <a:p>
            <a:pPr marL="685800" indent="-22860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       Event organizers managing attendee and volunteer information</a:t>
            </a:r>
          </a:p>
          <a:p>
            <a:pPr marL="685800" indent="-228600">
              <a:lnSpc>
                <a:spcPct val="115000"/>
              </a:lnSpc>
              <a:spcAft>
                <a:spcPts val="18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 </a:t>
            </a:r>
            <a:r>
              <a:rPr lang="en-IN" sz="2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Anyone seeking a simple, privacy-focused contact management 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8E4472-AE30-0CA4-E3F7-C5D47F63025A}"/>
              </a:ext>
            </a:extLst>
          </p:cNvPr>
          <p:cNvSpPr txBox="1"/>
          <p:nvPr/>
        </p:nvSpPr>
        <p:spPr>
          <a:xfrm>
            <a:off x="356937" y="2583372"/>
            <a:ext cx="6104020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IN" sz="1800" b="1" kern="0" dirty="0">
                <a:effectLst/>
                <a:latin typeface="Arial" panose="020B0604020202020204" pitchFamily="34" charset="0"/>
              </a:rPr>
              <a:t>PROJECT INSTRUCTION</a:t>
            </a:r>
            <a:endParaRPr lang="en-IN" sz="2800" b="1" kern="0" dirty="0"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B40AD-E486-8225-F54E-4E8DB47A8E97}"/>
              </a:ext>
            </a:extLst>
          </p:cNvPr>
          <p:cNvSpPr txBox="1"/>
          <p:nvPr/>
        </p:nvSpPr>
        <p:spPr>
          <a:xfrm>
            <a:off x="1191127" y="3344578"/>
            <a:ext cx="6104020" cy="281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IN" sz="1800" b="1" dirty="0">
                <a:effectLst/>
                <a:latin typeface="Andika"/>
                <a:ea typeface="Andika"/>
                <a:cs typeface="Andika"/>
              </a:rPr>
              <a:t>1️⃣ Install Node.js (If Not Installed)</a:t>
            </a:r>
            <a:endParaRPr lang="en-IN" sz="2800" b="1" dirty="0">
              <a:effectLst/>
              <a:latin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b="1" kern="0" dirty="0">
                <a:effectLst/>
                <a:latin typeface="Arial" panose="020B0604020202020204" pitchFamily="34" charset="0"/>
              </a:rPr>
              <a:t>Download and install Node.js from:  </a:t>
            </a:r>
            <a:r>
              <a:rPr lang="en-IN" sz="1800" b="1" u="sng" kern="0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2"/>
              </a:rPr>
              <a:t>https://nodejs.org/</a:t>
            </a:r>
            <a:endParaRPr lang="en-IN" sz="3600" b="1" kern="0" dirty="0">
              <a:effectLst/>
              <a:latin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2000"/>
              </a:spcBef>
              <a:spcAft>
                <a:spcPts val="1200"/>
              </a:spcAft>
              <a:buNone/>
            </a:pPr>
            <a:r>
              <a:rPr lang="en-IN" sz="1800" b="1" kern="0" dirty="0">
                <a:effectLst/>
                <a:latin typeface="Arial" panose="020B0604020202020204" pitchFamily="34" charset="0"/>
              </a:rPr>
              <a:t>After installation, verify:</a:t>
            </a:r>
            <a:endParaRPr lang="en-IN" sz="3600" b="1" kern="0" dirty="0">
              <a:effectLst/>
              <a:latin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IN" sz="2000" b="1" dirty="0">
                <a:solidFill>
                  <a:srgbClr val="38761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node -v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IN" sz="2000" b="1" dirty="0" err="1">
                <a:solidFill>
                  <a:srgbClr val="38761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npm</a:t>
            </a:r>
            <a:r>
              <a:rPr lang="en-IN" sz="2000" b="1" dirty="0">
                <a:solidFill>
                  <a:srgbClr val="38761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-v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693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D6369C-3E54-50B2-96B9-2D3139FF9E19}"/>
              </a:ext>
            </a:extLst>
          </p:cNvPr>
          <p:cNvSpPr txBox="1"/>
          <p:nvPr/>
        </p:nvSpPr>
        <p:spPr>
          <a:xfrm>
            <a:off x="1110916" y="243769"/>
            <a:ext cx="8000999" cy="4003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IN" sz="1800" b="1" dirty="0">
                <a:effectLst/>
                <a:latin typeface="Andika"/>
                <a:ea typeface="Andika"/>
                <a:cs typeface="Andika"/>
              </a:rPr>
              <a:t>2️⃣ Create a Backend Project Folder</a:t>
            </a:r>
            <a:endParaRPr lang="en-IN" sz="2800" b="1" dirty="0">
              <a:effectLst/>
              <a:latin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Choose or create a directory where you want your backend.</a:t>
            </a: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Open your terminal or command prompt.</a:t>
            </a: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Navigate to the selected directory:</a:t>
            </a:r>
          </a:p>
          <a:p>
            <a:pPr>
              <a:lnSpc>
                <a:spcPct val="115000"/>
              </a:lnSpc>
              <a:buNone/>
            </a:pPr>
            <a:r>
              <a:rPr lang="en-IN" sz="2000" b="1" dirty="0">
                <a:solidFill>
                  <a:srgbClr val="188038"/>
                </a:solidFill>
                <a:effectLst/>
                <a:latin typeface="Roboto Mono" panose="020F0502020204030204" pitchFamily="49" charset="0"/>
                <a:ea typeface="Roboto Mono" panose="020F0502020204030204" pitchFamily="49" charset="0"/>
                <a:cs typeface="Roboto Mono" panose="020F0502020204030204" pitchFamily="49" charset="0"/>
              </a:rPr>
              <a:t>cd your-project-folder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Create a new backend folder:</a:t>
            </a:r>
          </a:p>
          <a:p>
            <a:pPr>
              <a:lnSpc>
                <a:spcPct val="115000"/>
              </a:lnSpc>
              <a:buNone/>
            </a:pPr>
            <a:r>
              <a:rPr lang="en-IN" sz="2000" b="1" dirty="0" err="1">
                <a:solidFill>
                  <a:srgbClr val="188038"/>
                </a:solidFill>
                <a:effectLst/>
                <a:latin typeface="Roboto Mono" panose="020F0502020204030204" pitchFamily="49" charset="0"/>
                <a:ea typeface="Roboto Mono" panose="020F0502020204030204" pitchFamily="49" charset="0"/>
                <a:cs typeface="Roboto Mono" panose="020F0502020204030204" pitchFamily="49" charset="0"/>
              </a:rPr>
              <a:t>mkdir</a:t>
            </a:r>
            <a:r>
              <a:rPr lang="en-IN" sz="2000" b="1" dirty="0">
                <a:solidFill>
                  <a:srgbClr val="188038"/>
                </a:solidFill>
                <a:effectLst/>
                <a:latin typeface="Roboto Mono" panose="020F0502020204030204" pitchFamily="49" charset="0"/>
                <a:ea typeface="Roboto Mono" panose="020F0502020204030204" pitchFamily="49" charset="0"/>
                <a:cs typeface="Roboto Mono" panose="020F0502020204030204" pitchFamily="49" charset="0"/>
              </a:rPr>
              <a:t> server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IN" sz="2000" b="1" dirty="0">
                <a:solidFill>
                  <a:srgbClr val="188038"/>
                </a:solidFill>
                <a:effectLst/>
                <a:latin typeface="Roboto Mono" panose="020F0502020204030204" pitchFamily="49" charset="0"/>
                <a:ea typeface="Roboto Mono" panose="020F0502020204030204" pitchFamily="49" charset="0"/>
                <a:cs typeface="Roboto Mono" panose="020F0502020204030204" pitchFamily="49" charset="0"/>
              </a:rPr>
              <a:t>cd server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5951EE-584B-559F-3768-AF8743B5A53A}"/>
              </a:ext>
            </a:extLst>
          </p:cNvPr>
          <p:cNvSpPr txBox="1"/>
          <p:nvPr/>
        </p:nvSpPr>
        <p:spPr>
          <a:xfrm>
            <a:off x="1110916" y="4517034"/>
            <a:ext cx="6104020" cy="1264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IN" sz="1800" b="1" dirty="0">
                <a:effectLst/>
                <a:latin typeface="Andika"/>
                <a:ea typeface="Andika"/>
                <a:cs typeface="Andika"/>
              </a:rPr>
              <a:t>3️⃣ Initialize Node Project</a:t>
            </a:r>
            <a:endParaRPr lang="en-IN" sz="2800" b="1" dirty="0">
              <a:effectLst/>
              <a:latin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Run: </a:t>
            </a:r>
            <a:r>
              <a:rPr lang="en-IN" sz="2000" b="1" dirty="0" err="1">
                <a:solidFill>
                  <a:srgbClr val="188038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Roboto Mono" panose="00000009000000000000" pitchFamily="49" charset="0"/>
              </a:rPr>
              <a:t>npm</a:t>
            </a:r>
            <a:r>
              <a:rPr lang="en-IN" sz="2000" b="1" dirty="0">
                <a:solidFill>
                  <a:srgbClr val="188038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Roboto Mono" panose="00000009000000000000" pitchFamily="49" charset="0"/>
              </a:rPr>
              <a:t> </a:t>
            </a:r>
            <a:r>
              <a:rPr lang="en-IN" sz="2000" b="1" dirty="0" err="1">
                <a:solidFill>
                  <a:srgbClr val="188038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Roboto Mono" panose="00000009000000000000" pitchFamily="49" charset="0"/>
              </a:rPr>
              <a:t>init</a:t>
            </a:r>
            <a:r>
              <a:rPr lang="en-IN" sz="2000" b="1" dirty="0">
                <a:solidFill>
                  <a:srgbClr val="188038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Roboto Mono" panose="00000009000000000000" pitchFamily="49" charset="0"/>
              </a:rPr>
              <a:t> -y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This will create a </a:t>
            </a:r>
            <a:r>
              <a:rPr lang="en-IN" sz="1800" dirty="0" err="1"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Roboto Mono" panose="00000009000000000000" pitchFamily="49" charset="0"/>
              </a:rPr>
              <a:t>package.json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file.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902867-6659-B6E7-B8AF-B54B7C13FD39}"/>
              </a:ext>
            </a:extLst>
          </p:cNvPr>
          <p:cNvSpPr txBox="1"/>
          <p:nvPr/>
        </p:nvSpPr>
        <p:spPr>
          <a:xfrm>
            <a:off x="1024689" y="6160453"/>
            <a:ext cx="6104020" cy="907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IN" sz="1800" b="1" dirty="0">
                <a:effectLst/>
                <a:latin typeface="Andika"/>
                <a:ea typeface="Andika"/>
                <a:cs typeface="Andika"/>
              </a:rPr>
              <a:t>4️⃣ Install Required Dependencies</a:t>
            </a:r>
            <a:endParaRPr lang="en-IN" sz="2800" b="1" dirty="0">
              <a:effectLst/>
              <a:latin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562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13CFCD-D65C-3299-620A-CAB185339DC0}"/>
              </a:ext>
            </a:extLst>
          </p:cNvPr>
          <p:cNvSpPr txBox="1"/>
          <p:nvPr/>
        </p:nvSpPr>
        <p:spPr>
          <a:xfrm>
            <a:off x="1816769" y="705853"/>
            <a:ext cx="6104020" cy="2052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Install Express:</a:t>
            </a:r>
          </a:p>
          <a:p>
            <a:pPr>
              <a:lnSpc>
                <a:spcPct val="115000"/>
              </a:lnSpc>
              <a:buNone/>
            </a:pPr>
            <a:r>
              <a:rPr lang="en-IN" sz="1800" b="1" dirty="0" err="1">
                <a:solidFill>
                  <a:srgbClr val="188038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Roboto Mono" panose="00000009000000000000" pitchFamily="49" charset="0"/>
              </a:rPr>
              <a:t>npm</a:t>
            </a:r>
            <a:r>
              <a:rPr lang="en-IN" sz="1800" b="1" dirty="0">
                <a:solidFill>
                  <a:srgbClr val="188038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Roboto Mono" panose="00000009000000000000" pitchFamily="49" charset="0"/>
              </a:rPr>
              <a:t> install express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IN" sz="1800" b="1" dirty="0" err="1">
                <a:solidFill>
                  <a:srgbClr val="188038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Roboto Mono" panose="00000009000000000000" pitchFamily="49" charset="0"/>
              </a:rPr>
              <a:t>npm</a:t>
            </a:r>
            <a:r>
              <a:rPr lang="en-IN" sz="1800" b="1" dirty="0">
                <a:solidFill>
                  <a:srgbClr val="188038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Roboto Mono" panose="00000009000000000000" pitchFamily="49" charset="0"/>
              </a:rPr>
              <a:t> install mongoose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For development (auto-restart server):</a:t>
            </a:r>
          </a:p>
          <a:p>
            <a:pPr>
              <a:lnSpc>
                <a:spcPct val="115000"/>
              </a:lnSpc>
              <a:buNone/>
            </a:pPr>
            <a:r>
              <a:rPr lang="en-IN" sz="1800" b="1" dirty="0" err="1">
                <a:solidFill>
                  <a:srgbClr val="188038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Roboto Mono" panose="00000009000000000000" pitchFamily="49" charset="0"/>
              </a:rPr>
              <a:t>npm</a:t>
            </a:r>
            <a:r>
              <a:rPr lang="en-IN" sz="1800" b="1" dirty="0">
                <a:solidFill>
                  <a:srgbClr val="188038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Roboto Mono" panose="00000009000000000000" pitchFamily="49" charset="0"/>
              </a:rPr>
              <a:t> install </a:t>
            </a:r>
            <a:r>
              <a:rPr lang="en-IN" sz="1800" b="1" dirty="0" err="1">
                <a:solidFill>
                  <a:srgbClr val="188038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Roboto Mono" panose="00000009000000000000" pitchFamily="49" charset="0"/>
              </a:rPr>
              <a:t>nodemon</a:t>
            </a:r>
            <a:r>
              <a:rPr lang="en-IN" sz="1800" b="1" dirty="0">
                <a:solidFill>
                  <a:srgbClr val="188038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Roboto Mono" panose="00000009000000000000" pitchFamily="49" charset="0"/>
              </a:rPr>
              <a:t> --save-dev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8D6E2C-6281-0F84-400F-DC2A12E0D8BA}"/>
              </a:ext>
            </a:extLst>
          </p:cNvPr>
          <p:cNvSpPr txBox="1"/>
          <p:nvPr/>
        </p:nvSpPr>
        <p:spPr>
          <a:xfrm>
            <a:off x="1816769" y="3706112"/>
            <a:ext cx="6104020" cy="2199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IN" sz="1800" b="1" dirty="0">
                <a:effectLst/>
                <a:latin typeface="Andika"/>
                <a:ea typeface="Andika"/>
                <a:cs typeface="Andika"/>
              </a:rPr>
              <a:t>5️⃣ Create Basic Server File</a:t>
            </a:r>
            <a:endParaRPr lang="en-IN" sz="2800" b="1" dirty="0">
              <a:effectLst/>
              <a:latin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Inside the </a:t>
            </a:r>
            <a:r>
              <a:rPr lang="en-IN" sz="1800" dirty="0"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Roboto Mono" panose="00000009000000000000" pitchFamily="49" charset="0"/>
              </a:rPr>
              <a:t>server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folder:</a:t>
            </a: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Create a file called: </a:t>
            </a:r>
            <a:r>
              <a:rPr lang="en-IN" sz="2000" b="1" u="none" strike="noStrike" dirty="0">
                <a:solidFill>
                  <a:srgbClr val="188038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Roboto Mono" panose="00000009000000000000" pitchFamily="49" charset="0"/>
                <a:hlinkClick r:id="rId2"/>
              </a:rPr>
              <a:t>server.js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dirty="0"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Roboto Mono" panose="00000009000000000000" pitchFamily="49" charset="0"/>
              </a:rPr>
              <a:t>Add this code :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338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8372E12E-B10B-D956-EC16-38FDA305E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1884" y="-257695"/>
            <a:ext cx="15172830" cy="464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025" name="image5.png">
            <a:extLst>
              <a:ext uri="{FF2B5EF4-FFF2-40B4-BE49-F238E27FC236}">
                <a16:creationId xmlns:a16="http://schemas.microsoft.com/office/drawing/2014/main" id="{B2E0D496-C0C7-730F-170D-4477AA055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883" y="199506"/>
            <a:ext cx="5333563" cy="4689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E0E207FC-78C2-2F05-9C3B-EF51B170C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1884" y="3752330"/>
            <a:ext cx="1517283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B88BB2-74BE-334B-5604-256EA05F8F21}"/>
              </a:ext>
            </a:extLst>
          </p:cNvPr>
          <p:cNvSpPr txBox="1"/>
          <p:nvPr/>
        </p:nvSpPr>
        <p:spPr>
          <a:xfrm>
            <a:off x="939441" y="5324119"/>
            <a:ext cx="8528858" cy="1533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IN" sz="1800" b="1" dirty="0">
                <a:effectLst/>
                <a:latin typeface="Andika"/>
                <a:ea typeface="Andika"/>
                <a:cs typeface="Andika"/>
              </a:rPr>
              <a:t>6️⃣ Enable ES Modules (Important)</a:t>
            </a:r>
            <a:endParaRPr lang="en-IN" sz="2800" b="1" dirty="0">
              <a:effectLst/>
              <a:latin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Open </a:t>
            </a:r>
            <a:r>
              <a:rPr lang="en-IN" sz="1800" dirty="0" err="1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package.json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and add: </a:t>
            </a: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N" sz="1800" b="1" dirty="0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"type": "module"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Example: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464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D60942-2209-3B15-C38C-A78FFD73B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2049" name="image3.png">
            <a:extLst>
              <a:ext uri="{FF2B5EF4-FFF2-40B4-BE49-F238E27FC236}">
                <a16:creationId xmlns:a16="http://schemas.microsoft.com/office/drawing/2014/main" id="{4C56660F-0865-7E93-DBD3-A9FB649A0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834" y="217690"/>
            <a:ext cx="3397481" cy="2754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8D75BC6-C085-6DB3-C1B5-3BAFC93CA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0" y="22002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5BDDF3-C7D2-C1A8-E395-AB0BD6FC57D2}"/>
              </a:ext>
            </a:extLst>
          </p:cNvPr>
          <p:cNvSpPr txBox="1"/>
          <p:nvPr/>
        </p:nvSpPr>
        <p:spPr>
          <a:xfrm>
            <a:off x="1886989" y="3189649"/>
            <a:ext cx="8163098" cy="114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IN" sz="1800" b="1" dirty="0">
                <a:effectLst/>
                <a:latin typeface="Andika"/>
                <a:ea typeface="Andika"/>
                <a:cs typeface="Andika"/>
              </a:rPr>
              <a:t>7️⃣ Start the Backend Server</a:t>
            </a:r>
            <a:endParaRPr lang="en-IN" sz="2800" b="1" dirty="0">
              <a:effectLst/>
              <a:latin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Run:</a:t>
            </a: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</a:t>
            </a:r>
            <a:r>
              <a:rPr lang="en-IN" sz="2000" b="1" dirty="0" err="1">
                <a:solidFill>
                  <a:srgbClr val="188038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Roboto Mono" panose="00000009000000000000" pitchFamily="49" charset="0"/>
              </a:rPr>
              <a:t>npm</a:t>
            </a:r>
            <a:r>
              <a:rPr lang="en-IN" sz="2000" b="1" dirty="0">
                <a:solidFill>
                  <a:srgbClr val="188038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Roboto Mono" panose="00000009000000000000" pitchFamily="49" charset="0"/>
              </a:rPr>
              <a:t> run dev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OR if not using </a:t>
            </a:r>
            <a:r>
              <a:rPr lang="en-IN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nodemon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:</a:t>
            </a: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</a:t>
            </a:r>
            <a:r>
              <a:rPr lang="en-IN" sz="2000" b="1" dirty="0">
                <a:solidFill>
                  <a:srgbClr val="188038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Roboto Mono" panose="00000009000000000000" pitchFamily="49" charset="0"/>
              </a:rPr>
              <a:t>node server.js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9518F2-30F9-46A5-F947-634356359B67}"/>
              </a:ext>
            </a:extLst>
          </p:cNvPr>
          <p:cNvSpPr txBox="1"/>
          <p:nvPr/>
        </p:nvSpPr>
        <p:spPr>
          <a:xfrm>
            <a:off x="1088967" y="5993979"/>
            <a:ext cx="81630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PRE-REQUISITES</a:t>
            </a:r>
          </a:p>
          <a:p>
            <a:r>
              <a:rPr lang="en-IN" b="1" dirty="0"/>
              <a:t>Software Requirements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61B13A-0751-2650-65F2-447314B36D9A}"/>
              </a:ext>
            </a:extLst>
          </p:cNvPr>
          <p:cNvSpPr txBox="1"/>
          <p:nvPr/>
        </p:nvSpPr>
        <p:spPr>
          <a:xfrm>
            <a:off x="1886989" y="4514869"/>
            <a:ext cx="8163098" cy="129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IN" sz="1800" b="1">
                <a:effectLst/>
                <a:latin typeface="Andika"/>
                <a:ea typeface="Andika"/>
                <a:cs typeface="Andika"/>
              </a:rPr>
              <a:t>8️⃣ Open in Browser</a:t>
            </a:r>
            <a:endParaRPr lang="en-IN" sz="2800" b="1">
              <a:effectLst/>
              <a:latin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Open</a:t>
            </a: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</a:t>
            </a:r>
            <a:r>
              <a:rPr lang="en-IN" sz="2000" b="1" dirty="0">
                <a:solidFill>
                  <a:srgbClr val="188038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Roboto Mono" panose="00000009000000000000" pitchFamily="49" charset="0"/>
              </a:rPr>
              <a:t>http://localhost:5000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You should see:</a:t>
            </a: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</a:t>
            </a:r>
            <a:r>
              <a:rPr lang="en-IN" sz="2000" b="1" dirty="0">
                <a:solidFill>
                  <a:srgbClr val="188038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Roboto Mono" panose="00000009000000000000" pitchFamily="49" charset="0"/>
              </a:rPr>
              <a:t>Backend is running 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128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23793CB-E75C-FFCB-EF64-06889F407F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189817"/>
              </p:ext>
            </p:extLst>
          </p:nvPr>
        </p:nvGraphicFramePr>
        <p:xfrm>
          <a:off x="2814845" y="165474"/>
          <a:ext cx="5109953" cy="29627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2342">
                  <a:extLst>
                    <a:ext uri="{9D8B030D-6E8A-4147-A177-3AD203B41FA5}">
                      <a16:colId xmlns:a16="http://schemas.microsoft.com/office/drawing/2014/main" val="827828727"/>
                    </a:ext>
                  </a:extLst>
                </a:gridCol>
                <a:gridCol w="2867611">
                  <a:extLst>
                    <a:ext uri="{9D8B030D-6E8A-4147-A177-3AD203B41FA5}">
                      <a16:colId xmlns:a16="http://schemas.microsoft.com/office/drawing/2014/main" val="4187391811"/>
                    </a:ext>
                  </a:extLst>
                </a:gridCol>
              </a:tblGrid>
              <a:tr h="4937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Software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Purpose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3851913289"/>
                  </a:ext>
                </a:extLst>
              </a:tr>
              <a:tr h="4937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Node.js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JavaScript runtime for backend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499496710"/>
                  </a:ext>
                </a:extLst>
              </a:tr>
              <a:tr h="4937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MongoDB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NoSQL database for data storage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2262037344"/>
                  </a:ext>
                </a:extLst>
              </a:tr>
              <a:tr h="4937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npm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Package manager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4188943777"/>
                  </a:ext>
                </a:extLst>
              </a:tr>
              <a:tr h="4937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Git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Version control system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2769970425"/>
                  </a:ext>
                </a:extLst>
              </a:tr>
              <a:tr h="4937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Code Editor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VS Code, WebStorm, or similar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59002851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6D99013-39E7-18C3-0392-959FC9486E82}"/>
              </a:ext>
            </a:extLst>
          </p:cNvPr>
          <p:cNvSpPr txBox="1"/>
          <p:nvPr/>
        </p:nvSpPr>
        <p:spPr>
          <a:xfrm>
            <a:off x="838201" y="3577387"/>
            <a:ext cx="7776410" cy="259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  <a:buNone/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Knowledge Requirements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685800" indent="-228600">
              <a:lnSpc>
                <a:spcPct val="115000"/>
              </a:lnSpc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       JavaScript ES6+ syntax and concepts</a:t>
            </a:r>
          </a:p>
          <a:p>
            <a:pPr marL="685800" indent="-228600">
              <a:lnSpc>
                <a:spcPct val="115000"/>
              </a:lnSpc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       Node.js and Express.js for RESTful API development</a:t>
            </a:r>
          </a:p>
          <a:p>
            <a:pPr marL="685800" indent="-228600">
              <a:lnSpc>
                <a:spcPct val="115000"/>
              </a:lnSpc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       MongoDB and Mongoose ODM</a:t>
            </a:r>
          </a:p>
          <a:p>
            <a:pPr marL="685800" indent="-228600">
              <a:lnSpc>
                <a:spcPct val="115000"/>
              </a:lnSpc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       JWT authentication and </a:t>
            </a:r>
            <a:r>
              <a:rPr lang="en-IN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bcrypt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password hashing</a:t>
            </a:r>
          </a:p>
          <a:p>
            <a:pPr marL="685800" indent="-228600">
              <a:lnSpc>
                <a:spcPct val="115000"/>
              </a:lnSpc>
              <a:spcAft>
                <a:spcPts val="18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       Git version control workflow</a:t>
            </a:r>
          </a:p>
        </p:txBody>
      </p:sp>
    </p:spTree>
    <p:extLst>
      <p:ext uri="{BB962C8B-B14F-4D97-AF65-F5344CB8AC3E}">
        <p14:creationId xmlns:p14="http://schemas.microsoft.com/office/powerpoint/2010/main" val="1264315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A2CDE3-FFFC-AF5B-2F3C-231E70F8C4F4}"/>
              </a:ext>
            </a:extLst>
          </p:cNvPr>
          <p:cNvSpPr txBox="1"/>
          <p:nvPr/>
        </p:nvSpPr>
        <p:spPr>
          <a:xfrm>
            <a:off x="757989" y="209141"/>
            <a:ext cx="6104020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  <a:buNone/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PROJECT THUMBNAIL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C6DA5C-1F4A-3277-0F41-6198DD946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4097" name="image11.png">
            <a:extLst>
              <a:ext uri="{FF2B5EF4-FFF2-40B4-BE49-F238E27FC236}">
                <a16:creationId xmlns:a16="http://schemas.microsoft.com/office/drawing/2014/main" id="{A597BB77-6A38-D0D6-84B8-6E7CB7186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644" y="802105"/>
            <a:ext cx="2601118" cy="1821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9DA8B846-E6D8-DB13-EC90-2E7D919D6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717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4DAB2-BDAF-6627-4D22-3F9898B6ED34}"/>
              </a:ext>
            </a:extLst>
          </p:cNvPr>
          <p:cNvSpPr txBox="1"/>
          <p:nvPr/>
        </p:nvSpPr>
        <p:spPr>
          <a:xfrm>
            <a:off x="757989" y="3045177"/>
            <a:ext cx="6104020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  <a:buNone/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PROJECT ARCHITECTURE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E80F87-768A-F2A6-D76A-FA9B5595AD13}"/>
              </a:ext>
            </a:extLst>
          </p:cNvPr>
          <p:cNvSpPr txBox="1"/>
          <p:nvPr/>
        </p:nvSpPr>
        <p:spPr>
          <a:xfrm>
            <a:off x="1528010" y="3491042"/>
            <a:ext cx="10118557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000"/>
              </a:spcBef>
              <a:spcAft>
                <a:spcPts val="600"/>
              </a:spcAft>
              <a:buNone/>
            </a:pPr>
            <a:r>
              <a:rPr lang="en-IN" sz="1800" b="1" kern="0" dirty="0">
                <a:effectLst/>
                <a:latin typeface="Arial" panose="020B0604020202020204" pitchFamily="34" charset="0"/>
              </a:rPr>
              <a:t>High-level architecture diagram illustrating the three-tier backend structure.</a:t>
            </a:r>
            <a:endParaRPr lang="en-IN" sz="3600" b="1" kern="0" dirty="0"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56172594-65B6-6C60-8866-B53ECB01C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5305" y="349655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4100" name="image12.png">
            <a:extLst>
              <a:ext uri="{FF2B5EF4-FFF2-40B4-BE49-F238E27FC236}">
                <a16:creationId xmlns:a16="http://schemas.microsoft.com/office/drawing/2014/main" id="{6444C292-3E2C-B0D1-3527-6C28A9836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5305" y="3953756"/>
            <a:ext cx="59436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6">
            <a:extLst>
              <a:ext uri="{FF2B5EF4-FFF2-40B4-BE49-F238E27FC236}">
                <a16:creationId xmlns:a16="http://schemas.microsoft.com/office/drawing/2014/main" id="{3A8561AC-41BC-5572-131E-B8598176E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5305" y="681125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785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F993A0-3AFF-9755-6407-AA78B89428F9}"/>
              </a:ext>
            </a:extLst>
          </p:cNvPr>
          <p:cNvSpPr txBox="1"/>
          <p:nvPr/>
        </p:nvSpPr>
        <p:spPr>
          <a:xfrm>
            <a:off x="1720517" y="248618"/>
            <a:ext cx="6104020" cy="2294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None/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Node.js + Express Backend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RESTful API architecture</a:t>
            </a:r>
          </a:p>
          <a:p>
            <a:pPr>
              <a:lnSpc>
                <a:spcPct val="115000"/>
              </a:lnSpc>
              <a:spcAft>
                <a:spcPts val="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JWT authentication middleware</a:t>
            </a:r>
          </a:p>
          <a:p>
            <a:pPr>
              <a:lnSpc>
                <a:spcPct val="115000"/>
              </a:lnSpc>
              <a:spcAft>
                <a:spcPts val="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MVC pattern (Models, Controllers, Routes)</a:t>
            </a:r>
          </a:p>
          <a:p>
            <a:pPr>
              <a:lnSpc>
                <a:spcPct val="115000"/>
              </a:lnSpc>
              <a:buNone/>
            </a:pPr>
            <a:r>
              <a:rPr lang="en-IN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Input validation and error handling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None/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D9DCCB-8E86-5042-9A9B-B5B0990AC4B7}"/>
              </a:ext>
            </a:extLst>
          </p:cNvPr>
          <p:cNvSpPr txBox="1"/>
          <p:nvPr/>
        </p:nvSpPr>
        <p:spPr>
          <a:xfrm>
            <a:off x="1720517" y="2358899"/>
            <a:ext cx="6104020" cy="2140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None/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MongoDB Database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200"/>
              </a:spcAft>
              <a:buNone/>
            </a:pPr>
            <a:r>
              <a:rPr lang="en-IN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Document-based NoSQL storage</a:t>
            </a:r>
          </a:p>
          <a:p>
            <a:pPr>
              <a:lnSpc>
                <a:spcPct val="115000"/>
              </a:lnSpc>
              <a:spcAft>
                <a:spcPts val="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Mongoose ODM for schema </a:t>
            </a:r>
            <a:r>
              <a:rPr lang="en-IN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modeling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Two collections: Users and Contacts</a:t>
            </a:r>
          </a:p>
          <a:p>
            <a:pPr>
              <a:lnSpc>
                <a:spcPct val="115000"/>
              </a:lnSpc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Indexed fields for optimized queries</a:t>
            </a:r>
          </a:p>
          <a:p>
            <a:pPr>
              <a:lnSpc>
                <a:spcPct val="115000"/>
              </a:lnSpc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EB8C77-37C3-A849-3879-E6A224B7D26B}"/>
              </a:ext>
            </a:extLst>
          </p:cNvPr>
          <p:cNvSpPr txBox="1"/>
          <p:nvPr/>
        </p:nvSpPr>
        <p:spPr>
          <a:xfrm>
            <a:off x="757990" y="4315293"/>
            <a:ext cx="6104020" cy="103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IN" sz="2400" b="1" dirty="0">
                <a:effectLst/>
                <a:latin typeface="Arial" panose="020B0604020202020204" pitchFamily="34" charset="0"/>
              </a:rPr>
              <a:t>TECHNICAL ARCHITECTURE</a:t>
            </a:r>
            <a:endParaRPr lang="en-IN" sz="2800" b="1" dirty="0">
              <a:effectLst/>
              <a:latin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IN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Backend Architecture (Node.js + Express)</a:t>
            </a:r>
            <a:endParaRPr lang="en-IN" sz="2400" b="1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328120-88CB-FCFC-3611-1B61ACA58B07}"/>
              </a:ext>
            </a:extLst>
          </p:cNvPr>
          <p:cNvSpPr txBox="1"/>
          <p:nvPr/>
        </p:nvSpPr>
        <p:spPr>
          <a:xfrm>
            <a:off x="1351547" y="5599233"/>
            <a:ext cx="10006263" cy="1010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22860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</a:t>
            </a:r>
            <a:r>
              <a:rPr lang="en-IN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   </a:t>
            </a: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Controllers: 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Business logic for authentication and CRUD operations</a:t>
            </a:r>
          </a:p>
          <a:p>
            <a:pPr marL="685800" indent="-22860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</a:t>
            </a:r>
            <a:r>
              <a:rPr lang="en-IN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   </a:t>
            </a: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Models: 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Mongoose schemas defining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1298852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E5C540-5358-3EA1-4CE9-3C19F3AE91AB}"/>
              </a:ext>
            </a:extLst>
          </p:cNvPr>
          <p:cNvSpPr txBox="1"/>
          <p:nvPr/>
        </p:nvSpPr>
        <p:spPr>
          <a:xfrm>
            <a:off x="1094875" y="328142"/>
            <a:ext cx="7648072" cy="856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22860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</a:t>
            </a:r>
            <a:r>
              <a:rPr lang="en-IN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   </a:t>
            </a: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Middleware: 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JWT verification, error handling, validation</a:t>
            </a:r>
          </a:p>
          <a:p>
            <a:pPr marL="685800" indent="-228600">
              <a:lnSpc>
                <a:spcPct val="115000"/>
              </a:lnSpc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</a:t>
            </a:r>
            <a:r>
              <a:rPr lang="en-IN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   </a:t>
            </a: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Configuration: 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Database connection and environment variables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302E13-F7FE-86F7-4866-64D20356EA46}"/>
              </a:ext>
            </a:extLst>
          </p:cNvPr>
          <p:cNvSpPr txBox="1"/>
          <p:nvPr/>
        </p:nvSpPr>
        <p:spPr>
          <a:xfrm>
            <a:off x="1094875" y="1356233"/>
            <a:ext cx="10920663" cy="2632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IN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Database Architecture (MongoDB)</a:t>
            </a:r>
            <a:endParaRPr lang="en-IN" sz="2400" b="1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marL="685800" indent="-22860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</a:t>
            </a:r>
            <a:r>
              <a:rPr lang="en-IN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   </a:t>
            </a: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Users Collection: 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_id, name, email, password (hashed), timestamps</a:t>
            </a:r>
          </a:p>
          <a:p>
            <a:pPr marL="685800" indent="-22860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</a:t>
            </a:r>
            <a:r>
              <a:rPr lang="en-IN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   </a:t>
            </a: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Contacts Collection: 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_id, </a:t>
            </a:r>
            <a:r>
              <a:rPr lang="en-IN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userId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(FK), name, email, phone, notes, tags[], timestamps</a:t>
            </a:r>
          </a:p>
          <a:p>
            <a:pPr marL="685800" indent="-22860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</a:t>
            </a:r>
            <a:r>
              <a:rPr lang="en-IN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   </a:t>
            </a: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Relationships: </a:t>
            </a:r>
            <a:r>
              <a:rPr lang="en-IN" sz="1800" dirty="0">
                <a:effectLst/>
                <a:latin typeface="Arial Unicode MS"/>
                <a:ea typeface="Arial Unicode MS"/>
                <a:cs typeface="Arial Unicode MS"/>
              </a:rPr>
              <a:t>Many-to-One (Contacts → User)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685800" indent="-228600">
              <a:lnSpc>
                <a:spcPct val="115000"/>
              </a:lnSpc>
              <a:spcAft>
                <a:spcPts val="18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</a:t>
            </a:r>
            <a:r>
              <a:rPr lang="en-IN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   </a:t>
            </a: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Indexes: 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email (unique), </a:t>
            </a:r>
            <a:r>
              <a:rPr lang="en-IN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userId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name, tags (for search)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1F5A6A-6FE7-AB26-DDED-70ADACBFD21C}"/>
              </a:ext>
            </a:extLst>
          </p:cNvPr>
          <p:cNvSpPr txBox="1"/>
          <p:nvPr/>
        </p:nvSpPr>
        <p:spPr>
          <a:xfrm>
            <a:off x="451186" y="4160708"/>
            <a:ext cx="6104020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ER Diagram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1C09B4D-2642-3676-1CE5-4A1BC6CAC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232" y="3952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5121" name="image8.png">
            <a:extLst>
              <a:ext uri="{FF2B5EF4-FFF2-40B4-BE49-F238E27FC236}">
                <a16:creationId xmlns:a16="http://schemas.microsoft.com/office/drawing/2014/main" id="{90B4F3E4-91EE-F262-E379-3DFD09AEF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232" y="4410075"/>
            <a:ext cx="287655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6020CB44-2258-E4DB-95CD-BC0FB3C86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232" y="6858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487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DDE9A7-FD16-AF3C-DEBD-1A166D932948}"/>
              </a:ext>
            </a:extLst>
          </p:cNvPr>
          <p:cNvSpPr txBox="1"/>
          <p:nvPr/>
        </p:nvSpPr>
        <p:spPr>
          <a:xfrm>
            <a:off x="870285" y="0"/>
            <a:ext cx="6104020" cy="1200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Features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IN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Core Features</a:t>
            </a:r>
            <a:endParaRPr lang="en-IN" sz="1800" b="1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C0D570C-FAC6-BA93-ACC4-1DD488EC83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615169"/>
              </p:ext>
            </p:extLst>
          </p:nvPr>
        </p:nvGraphicFramePr>
        <p:xfrm>
          <a:off x="2206250" y="1351840"/>
          <a:ext cx="5924550" cy="5320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1668436446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66809862"/>
                    </a:ext>
                  </a:extLst>
                </a:gridCol>
                <a:gridCol w="2828925">
                  <a:extLst>
                    <a:ext uri="{9D8B030D-6E8A-4147-A177-3AD203B41FA5}">
                      <a16:colId xmlns:a16="http://schemas.microsoft.com/office/drawing/2014/main" val="2433058869"/>
                    </a:ext>
                  </a:extLst>
                </a:gridCol>
              </a:tblGrid>
              <a:tr h="5320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#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Feature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Description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12580500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17452AA-49CC-20E2-32DB-23F541E845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439967"/>
              </p:ext>
            </p:extLst>
          </p:nvPr>
        </p:nvGraphicFramePr>
        <p:xfrm>
          <a:off x="2206250" y="1883930"/>
          <a:ext cx="5924550" cy="26654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112180251"/>
                    </a:ext>
                  </a:extLst>
                </a:gridCol>
                <a:gridCol w="2094539">
                  <a:extLst>
                    <a:ext uri="{9D8B030D-6E8A-4147-A177-3AD203B41FA5}">
                      <a16:colId xmlns:a16="http://schemas.microsoft.com/office/drawing/2014/main" val="843931983"/>
                    </a:ext>
                  </a:extLst>
                </a:gridCol>
                <a:gridCol w="2772736">
                  <a:extLst>
                    <a:ext uri="{9D8B030D-6E8A-4147-A177-3AD203B41FA5}">
                      <a16:colId xmlns:a16="http://schemas.microsoft.com/office/drawing/2014/main" val="3472453427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User Authentication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JWT-based registration, login, and session management with </a:t>
                      </a:r>
                      <a:r>
                        <a:rPr lang="en-IN" sz="1100" dirty="0" err="1">
                          <a:effectLst/>
                        </a:rPr>
                        <a:t>bcrypt</a:t>
                      </a:r>
                      <a:r>
                        <a:rPr lang="en-IN" sz="1100" dirty="0">
                          <a:effectLst/>
                        </a:rPr>
                        <a:t> password hashing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1532043557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2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Contact CRUD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Create, read, update, and delete contacts with full validation and error handling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72837729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3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Tag Categorization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Organize contacts with multiple tags (Work, Family, Friends, etc.) and filter by category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120482249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4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Real-time Search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Debounced search across name, email, and tags with instant results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389206211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F2E568A-18EA-A560-001B-A3CB2B52CCD4}"/>
              </a:ext>
            </a:extLst>
          </p:cNvPr>
          <p:cNvSpPr txBox="1"/>
          <p:nvPr/>
        </p:nvSpPr>
        <p:spPr>
          <a:xfrm>
            <a:off x="870285" y="4549408"/>
            <a:ext cx="6104020" cy="702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Roles and Responsibility  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B1843C-6B42-AADF-BF57-3646D3119727}"/>
              </a:ext>
            </a:extLst>
          </p:cNvPr>
          <p:cNvSpPr txBox="1"/>
          <p:nvPr/>
        </p:nvSpPr>
        <p:spPr>
          <a:xfrm>
            <a:off x="1287380" y="5251780"/>
            <a:ext cx="6104020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●"/>
            </a:pPr>
            <a:r>
              <a:rPr lang="en-IN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User - </a:t>
            </a:r>
            <a:endParaRPr lang="en-IN" sz="14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CEAF78-E97D-425D-6DC6-1A09ABB44105}"/>
              </a:ext>
            </a:extLst>
          </p:cNvPr>
          <p:cNvSpPr txBox="1"/>
          <p:nvPr/>
        </p:nvSpPr>
        <p:spPr>
          <a:xfrm>
            <a:off x="1848852" y="5635603"/>
            <a:ext cx="9733547" cy="702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IN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Registration - Register on the application using the name, email , password 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IN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Login - Login on the application using the email and registered password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D9D7DF-B6C6-D0B2-BA64-6C1A1BDE06FB}"/>
              </a:ext>
            </a:extLst>
          </p:cNvPr>
          <p:cNvSpPr txBox="1"/>
          <p:nvPr/>
        </p:nvSpPr>
        <p:spPr>
          <a:xfrm>
            <a:off x="1848852" y="6337975"/>
            <a:ext cx="8337884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en-IN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3. Search - Search for a contact using name , email or tags</a:t>
            </a:r>
          </a:p>
        </p:txBody>
      </p:sp>
    </p:spTree>
    <p:extLst>
      <p:ext uri="{BB962C8B-B14F-4D97-AF65-F5344CB8AC3E}">
        <p14:creationId xmlns:p14="http://schemas.microsoft.com/office/powerpoint/2010/main" val="1183251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2624CD-06A7-4576-6EDD-E75796C12744}"/>
              </a:ext>
            </a:extLst>
          </p:cNvPr>
          <p:cNvSpPr txBox="1"/>
          <p:nvPr/>
        </p:nvSpPr>
        <p:spPr>
          <a:xfrm>
            <a:off x="1463842" y="197271"/>
            <a:ext cx="9573126" cy="1436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en-IN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4. Add Contact - Add new contact - name , email , phone , notes , tags</a:t>
            </a:r>
          </a:p>
          <a:p>
            <a:pPr lvl="0">
              <a:lnSpc>
                <a:spcPct val="115000"/>
              </a:lnSpc>
            </a:pPr>
            <a:r>
              <a:rPr lang="en-IN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5. Edit Contact - Edit the existing contact </a:t>
            </a:r>
          </a:p>
          <a:p>
            <a:pPr lvl="0">
              <a:lnSpc>
                <a:spcPct val="115000"/>
              </a:lnSpc>
            </a:pPr>
            <a:r>
              <a:rPr lang="en-IN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6. Delete Contact - Delete any contact  </a:t>
            </a:r>
          </a:p>
          <a:p>
            <a:pPr>
              <a:lnSpc>
                <a:spcPct val="115000"/>
              </a:lnSpc>
              <a:buNone/>
            </a:pPr>
            <a:r>
              <a:rPr lang="en-IN" sz="24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79ADBC-B87E-2114-96D1-A641EE236B55}"/>
              </a:ext>
            </a:extLst>
          </p:cNvPr>
          <p:cNvSpPr txBox="1"/>
          <p:nvPr/>
        </p:nvSpPr>
        <p:spPr>
          <a:xfrm>
            <a:off x="469233" y="1441906"/>
            <a:ext cx="6104020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User Flow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45A8D2F-1DD9-EE90-7C1C-9254A29EE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842" y="15240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7169" name="image10.png">
            <a:extLst>
              <a:ext uri="{FF2B5EF4-FFF2-40B4-BE49-F238E27FC236}">
                <a16:creationId xmlns:a16="http://schemas.microsoft.com/office/drawing/2014/main" id="{B2977617-50FF-E486-D9FB-91FD82284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6228" y="2209800"/>
            <a:ext cx="59436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92C490CF-F2D4-D369-2954-2AF4B3B38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824" y="5334000"/>
            <a:ext cx="364792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/>
              <a:t> </a:t>
            </a:r>
            <a:endParaRPr lang="en-IN"/>
          </a:p>
          <a:p>
            <a:r>
              <a:rPr lang="en-IN" b="1"/>
              <a:t>Project Setup and Configuration</a:t>
            </a:r>
            <a:endParaRPr lang="en-IN"/>
          </a:p>
          <a:p>
            <a:r>
              <a:rPr lang="en-IN" b="1"/>
              <a:t> </a:t>
            </a:r>
            <a:endParaRPr lang="en-IN"/>
          </a:p>
          <a:p>
            <a:r>
              <a:rPr lang="en-IN" b="1"/>
              <a:t>Folder Structure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236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BA6ED61-1E4D-5079-B704-72C0AFB78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425" y="-18634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8193" name="image7.png">
            <a:extLst>
              <a:ext uri="{FF2B5EF4-FFF2-40B4-BE49-F238E27FC236}">
                <a16:creationId xmlns:a16="http://schemas.microsoft.com/office/drawing/2014/main" id="{8F584EDD-239E-BC75-D3A8-F745726BA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425" y="270856"/>
            <a:ext cx="2695575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FD92F54-7785-17A3-2E2D-975D4FEFA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425" y="366175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35F281-9505-BC3F-5DF4-31D68A5BA4D5}"/>
              </a:ext>
            </a:extLst>
          </p:cNvPr>
          <p:cNvSpPr txBox="1"/>
          <p:nvPr/>
        </p:nvSpPr>
        <p:spPr>
          <a:xfrm>
            <a:off x="849543" y="3429985"/>
            <a:ext cx="7797338" cy="137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Project Setup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5875">
              <a:lnSpc>
                <a:spcPct val="115000"/>
              </a:lnSpc>
              <a:spcBef>
                <a:spcPts val="300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1. Install required tools and software: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A117EE-0F21-FB5E-21E0-D98A5BA24B3F}"/>
              </a:ext>
            </a:extLst>
          </p:cNvPr>
          <p:cNvSpPr txBox="1"/>
          <p:nvPr/>
        </p:nvSpPr>
        <p:spPr>
          <a:xfrm>
            <a:off x="1699087" y="4927475"/>
            <a:ext cx="7797338" cy="740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8125">
              <a:lnSpc>
                <a:spcPct val="115000"/>
              </a:lnSpc>
              <a:spcBef>
                <a:spcPts val="370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 Node.js.  </a:t>
            </a:r>
          </a:p>
          <a:p>
            <a:pPr marL="238125">
              <a:lnSpc>
                <a:spcPct val="115000"/>
              </a:lnSpc>
              <a:spcBef>
                <a:spcPts val="330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 MongoDB.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329E26-0BCC-4807-BE0A-86BFBE45034A}"/>
              </a:ext>
            </a:extLst>
          </p:cNvPr>
          <p:cNvSpPr txBox="1"/>
          <p:nvPr/>
        </p:nvSpPr>
        <p:spPr>
          <a:xfrm>
            <a:off x="849543" y="5787868"/>
            <a:ext cx="7797338" cy="740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95">
              <a:lnSpc>
                <a:spcPct val="115000"/>
              </a:lnSpc>
              <a:spcBef>
                <a:spcPts val="2145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2. Create project folders and files:  </a:t>
            </a:r>
          </a:p>
          <a:p>
            <a:pPr marL="238125">
              <a:lnSpc>
                <a:spcPct val="115000"/>
              </a:lnSpc>
              <a:spcBef>
                <a:spcPts val="330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         Server folders.  </a:t>
            </a:r>
          </a:p>
        </p:txBody>
      </p:sp>
    </p:spTree>
    <p:extLst>
      <p:ext uri="{BB962C8B-B14F-4D97-AF65-F5344CB8AC3E}">
        <p14:creationId xmlns:p14="http://schemas.microsoft.com/office/powerpoint/2010/main" val="2281687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21324E-816D-7C6B-23FF-2EC789B8D9E2}"/>
              </a:ext>
            </a:extLst>
          </p:cNvPr>
          <p:cNvSpPr txBox="1"/>
          <p:nvPr/>
        </p:nvSpPr>
        <p:spPr>
          <a:xfrm>
            <a:off x="1945106" y="179645"/>
            <a:ext cx="6104020" cy="214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15000"/>
              </a:lnSpc>
              <a:spcBef>
                <a:spcPts val="2140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3. Install Packages:  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	 Backend </a:t>
            </a:r>
            <a:r>
              <a:rPr lang="en-IN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npm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Packages  </a:t>
            </a:r>
          </a:p>
          <a:p>
            <a:pPr marL="695325">
              <a:lnSpc>
                <a:spcPct val="115000"/>
              </a:lnSpc>
              <a:spcBef>
                <a:spcPts val="370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 Express.  </a:t>
            </a:r>
          </a:p>
          <a:p>
            <a:pPr marL="695325">
              <a:lnSpc>
                <a:spcPct val="115000"/>
              </a:lnSpc>
              <a:spcBef>
                <a:spcPts val="320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 Mongoose.  </a:t>
            </a:r>
          </a:p>
          <a:p>
            <a:pPr marL="695325">
              <a:lnSpc>
                <a:spcPct val="115000"/>
              </a:lnSpc>
              <a:spcBef>
                <a:spcPts val="330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 </a:t>
            </a:r>
            <a:r>
              <a:rPr lang="en-IN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Cors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.  </a:t>
            </a:r>
          </a:p>
          <a:p>
            <a:pPr marL="457200">
              <a:lnSpc>
                <a:spcPct val="115000"/>
              </a:lnSpc>
              <a:buNone/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FD59BD-9863-35BD-2463-3A930D5BF9CB}"/>
              </a:ext>
            </a:extLst>
          </p:cNvPr>
          <p:cNvSpPr txBox="1"/>
          <p:nvPr/>
        </p:nvSpPr>
        <p:spPr>
          <a:xfrm>
            <a:off x="725904" y="2060287"/>
            <a:ext cx="7904747" cy="1853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en-IN" sz="24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Backend Development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39395">
              <a:lnSpc>
                <a:spcPct val="115000"/>
              </a:lnSpc>
              <a:spcBef>
                <a:spcPts val="370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 Setup express server  </a:t>
            </a:r>
          </a:p>
          <a:p>
            <a:pPr marL="922655">
              <a:lnSpc>
                <a:spcPct val="115000"/>
              </a:lnSpc>
              <a:spcBef>
                <a:spcPts val="95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 Create index.js file in the server (backend folder).  </a:t>
            </a:r>
          </a:p>
          <a:p>
            <a:pPr marL="922655">
              <a:lnSpc>
                <a:spcPct val="115000"/>
              </a:lnSpc>
              <a:spcBef>
                <a:spcPts val="135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 Create a .env file and define port number to access it globally.  </a:t>
            </a:r>
          </a:p>
          <a:p>
            <a:pPr marL="922655">
              <a:lnSpc>
                <a:spcPct val="115000"/>
              </a:lnSpc>
              <a:spcBef>
                <a:spcPts val="125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 Configure the server by adding </a:t>
            </a:r>
            <a:r>
              <a:rPr lang="en-IN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cors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body-parser.  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E914E98-D82D-139A-EE80-CACFD6F80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4312" y="3746366"/>
            <a:ext cx="17733820" cy="71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9217" name="image9.png">
            <a:extLst>
              <a:ext uri="{FF2B5EF4-FFF2-40B4-BE49-F238E27FC236}">
                <a16:creationId xmlns:a16="http://schemas.microsoft.com/office/drawing/2014/main" id="{96A381E3-D5F8-F75E-55C4-00B28B245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4312" y="4203566"/>
            <a:ext cx="5334376" cy="1081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9E1E3ABC-CD6F-3A44-51C2-41877A389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650" y="4914765"/>
            <a:ext cx="1773382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ACA93C-A099-B56C-35D5-816AD52CB7B0}"/>
              </a:ext>
            </a:extLst>
          </p:cNvPr>
          <p:cNvSpPr txBox="1"/>
          <p:nvPr/>
        </p:nvSpPr>
        <p:spPr>
          <a:xfrm>
            <a:off x="858982" y="5600335"/>
            <a:ext cx="10474036" cy="96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9395">
              <a:lnSpc>
                <a:spcPct val="115000"/>
              </a:lnSpc>
              <a:spcBef>
                <a:spcPts val="2970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 User Authentication:  </a:t>
            </a:r>
          </a:p>
          <a:p>
            <a:pPr marL="1155700" marR="654050" indent="-225425">
              <a:lnSpc>
                <a:spcPct val="102000"/>
              </a:lnSpc>
              <a:spcBef>
                <a:spcPts val="45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Create routes and middleware for user registration, login, and  </a:t>
            </a:r>
          </a:p>
          <a:p>
            <a:pPr marL="1155065" marR="501015" indent="-224790">
              <a:lnSpc>
                <a:spcPct val="101000"/>
              </a:lnSpc>
              <a:spcBef>
                <a:spcPts val="50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Set up authentication middleware to protect routes that require  user authentication.  </a:t>
            </a:r>
          </a:p>
        </p:txBody>
      </p:sp>
    </p:spTree>
    <p:extLst>
      <p:ext uri="{BB962C8B-B14F-4D97-AF65-F5344CB8AC3E}">
        <p14:creationId xmlns:p14="http://schemas.microsoft.com/office/powerpoint/2010/main" val="2779409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A08EF3-8F05-6CDB-9306-64C9DF2DC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405" y="-133004"/>
            <a:ext cx="19074285" cy="741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0241" name="image1.png">
            <a:extLst>
              <a:ext uri="{FF2B5EF4-FFF2-40B4-BE49-F238E27FC236}">
                <a16:creationId xmlns:a16="http://schemas.microsoft.com/office/drawing/2014/main" id="{A03924FE-C890-9083-69AE-219E8297E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183" y="324195"/>
            <a:ext cx="7349704" cy="2604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FB3C991-D6D4-B8FA-A4A7-50FB3F5B6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105" y="1721195"/>
            <a:ext cx="1907428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DC218A-DE13-15E1-F14C-AF9BD3B58D0B}"/>
              </a:ext>
            </a:extLst>
          </p:cNvPr>
          <p:cNvSpPr txBox="1"/>
          <p:nvPr/>
        </p:nvSpPr>
        <p:spPr>
          <a:xfrm>
            <a:off x="282947" y="3157652"/>
            <a:ext cx="11626106" cy="1247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9395">
              <a:lnSpc>
                <a:spcPct val="115000"/>
              </a:lnSpc>
              <a:spcBef>
                <a:spcPts val="1725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 Define API Routes:  </a:t>
            </a:r>
          </a:p>
          <a:p>
            <a:pPr marL="1155065" marR="386080" indent="-224790">
              <a:lnSpc>
                <a:spcPct val="101000"/>
              </a:lnSpc>
              <a:spcBef>
                <a:spcPts val="45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Create separate route files for different API functionalities such as  user authentication and crud operation for contacts  </a:t>
            </a:r>
          </a:p>
          <a:p>
            <a:pPr marL="1153795" marR="384175" indent="-223520">
              <a:lnSpc>
                <a:spcPct val="102000"/>
              </a:lnSpc>
              <a:spcBef>
                <a:spcPts val="50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Implement route handlers using Express.js to handle requests and  interact with the database.  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CB82FA6-ADAF-C489-80D0-C48B8D9AF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8182" y="4131396"/>
            <a:ext cx="15347513" cy="821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0244" name="image16.png">
            <a:extLst>
              <a:ext uri="{FF2B5EF4-FFF2-40B4-BE49-F238E27FC236}">
                <a16:creationId xmlns:a16="http://schemas.microsoft.com/office/drawing/2014/main" id="{B88CCB53-7CC7-7D46-1464-5D431D371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183" y="4588597"/>
            <a:ext cx="7423684" cy="2223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6">
            <a:extLst>
              <a:ext uri="{FF2B5EF4-FFF2-40B4-BE49-F238E27FC236}">
                <a16:creationId xmlns:a16="http://schemas.microsoft.com/office/drawing/2014/main" id="{7B2C7DDE-8D14-C0D8-7587-CFEDBD23C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295" y="5833196"/>
            <a:ext cx="1534751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365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77118A-71AA-4A67-1A74-649B81F58958}"/>
              </a:ext>
            </a:extLst>
          </p:cNvPr>
          <p:cNvSpPr txBox="1"/>
          <p:nvPr/>
        </p:nvSpPr>
        <p:spPr>
          <a:xfrm>
            <a:off x="810126" y="372365"/>
            <a:ext cx="10571747" cy="1324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7490">
              <a:lnSpc>
                <a:spcPct val="115000"/>
              </a:lnSpc>
              <a:spcBef>
                <a:spcPts val="1635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 Implement Data Models: </a:t>
            </a:r>
          </a:p>
          <a:p>
            <a:pPr marL="1155700" marR="729615" indent="-225425">
              <a:lnSpc>
                <a:spcPct val="101000"/>
              </a:lnSpc>
              <a:spcBef>
                <a:spcPts val="440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Define Mongoose schemas for the different data entities like  user and contact</a:t>
            </a:r>
          </a:p>
          <a:p>
            <a:pPr marL="1156970" marR="742315" indent="-226695">
              <a:lnSpc>
                <a:spcPct val="101000"/>
              </a:lnSpc>
              <a:spcBef>
                <a:spcPts val="225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Create corresponding Mongoose models to interact with the  MongoDB database.  </a:t>
            </a:r>
          </a:p>
          <a:p>
            <a:pPr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         • Implement CRUD operations (Create, Read, Update, Delete) for  each model.</a:t>
            </a:r>
            <a:endParaRPr lang="en-IN" dirty="0"/>
          </a:p>
        </p:txBody>
      </p:sp>
      <p:pic>
        <p:nvPicPr>
          <p:cNvPr id="11266" name="image6.png">
            <a:extLst>
              <a:ext uri="{FF2B5EF4-FFF2-40B4-BE49-F238E27FC236}">
                <a16:creationId xmlns:a16="http://schemas.microsoft.com/office/drawing/2014/main" id="{749378E1-3F5E-483C-19FD-35E6403AE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4738" y="2511400"/>
            <a:ext cx="3098163" cy="4177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5" name="image14.png">
            <a:extLst>
              <a:ext uri="{FF2B5EF4-FFF2-40B4-BE49-F238E27FC236}">
                <a16:creationId xmlns:a16="http://schemas.microsoft.com/office/drawing/2014/main" id="{55F2EE9F-40BA-1C52-1E91-775661992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912" y="2342780"/>
            <a:ext cx="3098163" cy="4515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2BC2219C-DD92-0CCC-F080-E6994D82A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6221" y="169670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Implement CRUD operations (Create, Read, Update, Delete) for  each model to perform database operations.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356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0E2A4-D6F2-EC1A-FED5-F2188D3EA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E5BD0E-6216-89D4-C6BA-14A98AE8D64B}"/>
              </a:ext>
            </a:extLst>
          </p:cNvPr>
          <p:cNvSpPr txBox="1"/>
          <p:nvPr/>
        </p:nvSpPr>
        <p:spPr>
          <a:xfrm>
            <a:off x="721895" y="224589"/>
            <a:ext cx="10282990" cy="1646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9395">
              <a:lnSpc>
                <a:spcPct val="115000"/>
              </a:lnSpc>
              <a:spcBef>
                <a:spcPts val="1525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 Error Handling:  </a:t>
            </a:r>
          </a:p>
          <a:p>
            <a:pPr marL="731520" marR="673100" indent="-212725">
              <a:lnSpc>
                <a:spcPct val="102000"/>
              </a:lnSpc>
              <a:spcBef>
                <a:spcPts val="740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Implement error handling middleware to catch and handle any errors  that occur during the API requests.  </a:t>
            </a:r>
          </a:p>
          <a:p>
            <a:pPr marL="742315" marR="664210" indent="-223520">
              <a:lnSpc>
                <a:spcPct val="101000"/>
              </a:lnSpc>
              <a:spcBef>
                <a:spcPts val="265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Return appropriate error responses with relevant error messages and  HTTP status codes. 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784A9BC-0808-D508-5475-BCC02CD4A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1706" y="187093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2289" name="image18.png">
            <a:extLst>
              <a:ext uri="{FF2B5EF4-FFF2-40B4-BE49-F238E27FC236}">
                <a16:creationId xmlns:a16="http://schemas.microsoft.com/office/drawing/2014/main" id="{C2ADD049-FA8D-ED40-8808-480EFC1DC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452" y="1977547"/>
            <a:ext cx="4989096" cy="3079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8D14FA15-5B54-859A-0CD7-3EEFB1CC9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4656" y="40664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181A4D-3035-7C1F-C4DE-22409CFED589}"/>
              </a:ext>
            </a:extLst>
          </p:cNvPr>
          <p:cNvSpPr txBox="1"/>
          <p:nvPr/>
        </p:nvSpPr>
        <p:spPr>
          <a:xfrm>
            <a:off x="1949610" y="5987080"/>
            <a:ext cx="67998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1. Configure MongoDB:  </a:t>
            </a:r>
          </a:p>
          <a:p>
            <a:r>
              <a:rPr lang="en-IN" dirty="0"/>
              <a:t> Install Mongoose.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8A8A26-E7F2-EACA-51C0-13C51E7CD5C0}"/>
              </a:ext>
            </a:extLst>
          </p:cNvPr>
          <p:cNvSpPr txBox="1"/>
          <p:nvPr/>
        </p:nvSpPr>
        <p:spPr>
          <a:xfrm>
            <a:off x="707896" y="5181990"/>
            <a:ext cx="6799810" cy="61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315" marR="664210" indent="-223520">
              <a:lnSpc>
                <a:spcPct val="101000"/>
              </a:lnSpc>
              <a:spcBef>
                <a:spcPts val="265"/>
              </a:spcBef>
              <a:buNone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  <a:p>
            <a:pPr marR="664210">
              <a:lnSpc>
                <a:spcPct val="101000"/>
              </a:lnSpc>
              <a:spcBef>
                <a:spcPts val="265"/>
              </a:spcBef>
              <a:buNone/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Database Configuration and Setup</a:t>
            </a: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744008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11436-106D-45B9-75B9-330DC39DA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9AD8AC-12B2-48F1-7C3C-D01E21753ACD}"/>
              </a:ext>
            </a:extLst>
          </p:cNvPr>
          <p:cNvSpPr txBox="1"/>
          <p:nvPr/>
        </p:nvSpPr>
        <p:spPr>
          <a:xfrm>
            <a:off x="1259378" y="136654"/>
            <a:ext cx="6109854" cy="740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8125">
              <a:lnSpc>
                <a:spcPct val="115000"/>
              </a:lnSpc>
              <a:spcBef>
                <a:spcPts val="330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 Create database connection.  </a:t>
            </a:r>
          </a:p>
          <a:p>
            <a:pPr marL="238125">
              <a:lnSpc>
                <a:spcPct val="115000"/>
              </a:lnSpc>
              <a:spcBef>
                <a:spcPts val="320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 Create Schemas &amp; Models.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95D9CE-7EAF-7E9D-4626-50AF366D315B}"/>
              </a:ext>
            </a:extLst>
          </p:cNvPr>
          <p:cNvSpPr txBox="1"/>
          <p:nvPr/>
        </p:nvSpPr>
        <p:spPr>
          <a:xfrm>
            <a:off x="793865" y="1134955"/>
            <a:ext cx="10478193" cy="991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95">
              <a:lnSpc>
                <a:spcPct val="115000"/>
              </a:lnSpc>
              <a:spcBef>
                <a:spcPts val="260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2. Connect database to backend:  </a:t>
            </a:r>
          </a:p>
          <a:p>
            <a:pPr marL="2540" marR="8890" indent="-2540">
              <a:lnSpc>
                <a:spcPct val="101000"/>
              </a:lnSpc>
              <a:spcBef>
                <a:spcPts val="310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 Now, make sure the database is connected before performing any of the actions through the backend. The connection code looks similar to the one provided below.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A961E6C-9EFB-B8DF-1991-7DBEFE473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4024" y="1926764"/>
            <a:ext cx="14752197" cy="511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3313" name="image22.png">
            <a:extLst>
              <a:ext uri="{FF2B5EF4-FFF2-40B4-BE49-F238E27FC236}">
                <a16:creationId xmlns:a16="http://schemas.microsoft.com/office/drawing/2014/main" id="{CC496C82-24E2-6AC3-B7D7-942E47D5C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025" y="2383965"/>
            <a:ext cx="3146367" cy="2547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D9E4237B-5193-7B11-570C-B074BB4AF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4024" y="4603289"/>
            <a:ext cx="1475219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770FCC-284A-5875-0691-E2976EFB3428}"/>
              </a:ext>
            </a:extLst>
          </p:cNvPr>
          <p:cNvSpPr txBox="1"/>
          <p:nvPr/>
        </p:nvSpPr>
        <p:spPr>
          <a:xfrm>
            <a:off x="793865" y="5351341"/>
            <a:ext cx="10176226" cy="1239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15000"/>
              </a:lnSpc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3. Configure Schema:  </a:t>
            </a:r>
          </a:p>
          <a:p>
            <a:pPr marL="468630" marR="12065" indent="-10795" algn="just">
              <a:lnSpc>
                <a:spcPct val="97000"/>
              </a:lnSpc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Firstly, configure the Schemas for MongoDB database, to store the data in such  pattern. Use the data from the ER diagrams to create the schemas.  </a:t>
            </a:r>
          </a:p>
          <a:p>
            <a:pPr marL="458470" algn="just">
              <a:lnSpc>
                <a:spcPct val="115000"/>
              </a:lnSpc>
              <a:spcBef>
                <a:spcPts val="40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 schemas are looks like for the Application.  </a:t>
            </a:r>
          </a:p>
        </p:txBody>
      </p:sp>
    </p:spTree>
    <p:extLst>
      <p:ext uri="{BB962C8B-B14F-4D97-AF65-F5344CB8AC3E}">
        <p14:creationId xmlns:p14="http://schemas.microsoft.com/office/powerpoint/2010/main" val="4042749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599281A-4ACB-9122-C2BF-1FA3865C9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6049" y="-14379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4337" name="image21.png">
            <a:extLst>
              <a:ext uri="{FF2B5EF4-FFF2-40B4-BE49-F238E27FC236}">
                <a16:creationId xmlns:a16="http://schemas.microsoft.com/office/drawing/2014/main" id="{AFC6161A-D71D-F9A5-D956-E5EB9ECA2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5183" y="236341"/>
            <a:ext cx="4597667" cy="2853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F70A6A3-BB2E-C39B-6CE2-42BEA7B46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5574" y="238350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50611E-B29D-1D3E-2A25-09E611D3C59D}"/>
              </a:ext>
            </a:extLst>
          </p:cNvPr>
          <p:cNvSpPr txBox="1"/>
          <p:nvPr/>
        </p:nvSpPr>
        <p:spPr>
          <a:xfrm>
            <a:off x="1665800" y="3090065"/>
            <a:ext cx="7755774" cy="1078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" marR="1142365" indent="-8890">
              <a:lnSpc>
                <a:spcPct val="88000"/>
              </a:lnSpc>
              <a:spcBef>
                <a:spcPts val="95"/>
              </a:spcBef>
              <a:buNone/>
            </a:pPr>
            <a:r>
              <a:rPr lang="en-IN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525" marR="1142365" indent="-8890">
              <a:lnSpc>
                <a:spcPct val="88000"/>
              </a:lnSpc>
              <a:spcBef>
                <a:spcPts val="95"/>
              </a:spcBef>
              <a:buNone/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Project Execution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525" marR="1142365" indent="-8890">
              <a:lnSpc>
                <a:spcPct val="88000"/>
              </a:lnSpc>
              <a:spcBef>
                <a:spcPts val="95"/>
              </a:spcBef>
              <a:buNone/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525" marR="1142365" indent="-8890">
              <a:lnSpc>
                <a:spcPct val="88000"/>
              </a:lnSpc>
              <a:spcBef>
                <a:spcPts val="95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Execution Steps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EC0E13-BC06-65CD-F187-9FAAB53ADE55}"/>
              </a:ext>
            </a:extLst>
          </p:cNvPr>
          <p:cNvSpPr txBox="1"/>
          <p:nvPr/>
        </p:nvSpPr>
        <p:spPr>
          <a:xfrm>
            <a:off x="2198716" y="4474496"/>
            <a:ext cx="10320251" cy="2055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1142365" lvl="0" indent="-342900">
              <a:lnSpc>
                <a:spcPct val="88000"/>
              </a:lnSpc>
              <a:spcBef>
                <a:spcPts val="95"/>
              </a:spcBef>
              <a:buFont typeface="+mj-lt"/>
              <a:buAutoNum type="arabicPeriod"/>
            </a:pPr>
            <a:r>
              <a:rPr lang="en-IN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Open the project folder in the terminal</a:t>
            </a:r>
            <a:endParaRPr lang="en-IN" sz="14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1142365" lvl="0" indent="-342900">
              <a:lnSpc>
                <a:spcPct val="88000"/>
              </a:lnSpc>
              <a:buFont typeface="+mj-lt"/>
              <a:buAutoNum type="arabicPeriod"/>
            </a:pPr>
            <a:r>
              <a:rPr lang="en-IN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Make sure you have a start script in the </a:t>
            </a:r>
            <a:r>
              <a:rPr lang="en-IN" sz="1800" u="none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3"/>
              </a:rPr>
              <a:t>package.js</a:t>
            </a:r>
            <a:r>
              <a:rPr lang="en-IN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file</a:t>
            </a:r>
            <a:endParaRPr lang="en-IN" sz="14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1142365" lvl="0" indent="-342900">
              <a:lnSpc>
                <a:spcPct val="88000"/>
              </a:lnSpc>
              <a:buFont typeface="+mj-lt"/>
              <a:buAutoNum type="arabicPeriod"/>
            </a:pPr>
            <a:r>
              <a:rPr lang="en-IN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Use the command </a:t>
            </a:r>
            <a:r>
              <a:rPr lang="en-IN" sz="1800" b="1" u="none" strike="noStrike" dirty="0" err="1">
                <a:solidFill>
                  <a:srgbClr val="38761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npm</a:t>
            </a:r>
            <a:r>
              <a:rPr lang="en-IN" sz="1800" b="1" u="none" strike="noStrike" dirty="0">
                <a:solidFill>
                  <a:srgbClr val="38761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start </a:t>
            </a:r>
            <a:r>
              <a:rPr lang="en-IN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to start the server</a:t>
            </a:r>
            <a:endParaRPr lang="en-IN" sz="14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1142365" lvl="0" indent="-342900">
              <a:lnSpc>
                <a:spcPct val="88000"/>
              </a:lnSpc>
              <a:buFont typeface="+mj-lt"/>
              <a:buAutoNum type="arabicPeriod"/>
            </a:pPr>
            <a:r>
              <a:rPr lang="en-IN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You will the </a:t>
            </a:r>
            <a:r>
              <a:rPr lang="en-IN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Running on PORT</a:t>
            </a:r>
            <a:r>
              <a:rPr lang="en-IN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message on the successfully starting the server</a:t>
            </a:r>
            <a:endParaRPr lang="en-IN" sz="14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1142365" lvl="0" indent="-342900">
              <a:lnSpc>
                <a:spcPct val="88000"/>
              </a:lnSpc>
              <a:buFont typeface="+mj-lt"/>
              <a:buAutoNum type="arabicPeriod"/>
            </a:pPr>
            <a:r>
              <a:rPr lang="en-IN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You will also see the database connected message if the database is connected successfully </a:t>
            </a:r>
            <a:endParaRPr lang="en-IN" sz="14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1142365" lvl="0" indent="-342900">
              <a:lnSpc>
                <a:spcPct val="88000"/>
              </a:lnSpc>
              <a:buFont typeface="+mj-lt"/>
              <a:buAutoNum type="arabicPeriod"/>
            </a:pPr>
            <a:r>
              <a:rPr lang="en-IN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Use the Thunder client or Postman for using the created </a:t>
            </a:r>
            <a:r>
              <a:rPr lang="en-IN" sz="1800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api’s</a:t>
            </a:r>
            <a:r>
              <a:rPr lang="en-IN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n-IN" sz="14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R="1142365">
              <a:lnSpc>
                <a:spcPct val="88000"/>
              </a:lnSpc>
              <a:spcBef>
                <a:spcPts val="95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875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27C8F719-AF39-C055-E800-00B4DF1AA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73" y="216376"/>
            <a:ext cx="179484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Output Screenshots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Register Api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361" name="image17.png">
            <a:extLst>
              <a:ext uri="{FF2B5EF4-FFF2-40B4-BE49-F238E27FC236}">
                <a16:creationId xmlns:a16="http://schemas.microsoft.com/office/drawing/2014/main" id="{13A6DDE5-F021-76B8-2307-9A6715F8D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1" y="721694"/>
            <a:ext cx="6924855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8BDB39D-06C3-F880-E993-E5AAEFC4D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0655" y="3769225"/>
            <a:ext cx="2153748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Login Api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367" name="image4.png">
            <a:extLst>
              <a:ext uri="{FF2B5EF4-FFF2-40B4-BE49-F238E27FC236}">
                <a16:creationId xmlns:a16="http://schemas.microsoft.com/office/drawing/2014/main" id="{C7F90346-319B-8C7C-F004-1E0786929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181" y="3920687"/>
            <a:ext cx="6665957" cy="2937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2910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BB0056-8697-D24E-DCFD-7A4A07379AF6}"/>
              </a:ext>
            </a:extLst>
          </p:cNvPr>
          <p:cNvSpPr txBox="1"/>
          <p:nvPr/>
        </p:nvSpPr>
        <p:spPr>
          <a:xfrm>
            <a:off x="886327" y="120699"/>
            <a:ext cx="6104020" cy="336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142365" lvl="0">
              <a:lnSpc>
                <a:spcPct val="88000"/>
              </a:lnSpc>
              <a:spcBef>
                <a:spcPts val="95"/>
              </a:spcBef>
            </a:pPr>
            <a:r>
              <a:rPr lang="en-IN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3. Create New Contact</a:t>
            </a:r>
            <a:endParaRPr lang="en-IN" sz="14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1B0D563-FADD-9488-E414-E350963CA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746" y="59851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6385" name="image15.png">
            <a:extLst>
              <a:ext uri="{FF2B5EF4-FFF2-40B4-BE49-F238E27FC236}">
                <a16:creationId xmlns:a16="http://schemas.microsoft.com/office/drawing/2014/main" id="{E6F47519-77AB-E1C3-6931-A0FFD2AB6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345" y="742280"/>
            <a:ext cx="5618601" cy="2466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BA6D8968-E9A8-B25D-A0A5-55D23E705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946" y="308771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013BCC-C9E5-E9C6-1E17-D3FCB74FE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327" y="34290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Update Contact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388" name="image13.png">
            <a:extLst>
              <a:ext uri="{FF2B5EF4-FFF2-40B4-BE49-F238E27FC236}">
                <a16:creationId xmlns:a16="http://schemas.microsoft.com/office/drawing/2014/main" id="{BE0D155D-3913-A450-7EF9-DDC89E857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345" y="3886201"/>
            <a:ext cx="5660032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E8E191-C63F-029F-E84C-713EB3FB6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08614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5740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BBAA5FB-B4AA-086A-42C1-03F7D2D26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494" y="19250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Delete Contact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409" name="image2.png">
            <a:extLst>
              <a:ext uri="{FF2B5EF4-FFF2-40B4-BE49-F238E27FC236}">
                <a16:creationId xmlns:a16="http://schemas.microsoft.com/office/drawing/2014/main" id="{032CBE9F-4F9C-DA16-15CE-DFDE04731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038" y="649705"/>
            <a:ext cx="6598848" cy="2708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2D03A4DE-1414-5DEC-054A-E77EF7CD6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8694" y="267218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CE65DA-EAFC-11EA-316D-D0672EFE51C7}"/>
              </a:ext>
            </a:extLst>
          </p:cNvPr>
          <p:cNvSpPr txBox="1"/>
          <p:nvPr/>
        </p:nvSpPr>
        <p:spPr>
          <a:xfrm>
            <a:off x="1013498" y="3358571"/>
            <a:ext cx="6758246" cy="592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1142365">
              <a:lnSpc>
                <a:spcPct val="88000"/>
              </a:lnSpc>
              <a:spcBef>
                <a:spcPts val="95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1142365" lvl="0" indent="-342900">
              <a:lnSpc>
                <a:spcPct val="88000"/>
              </a:lnSpc>
              <a:spcBef>
                <a:spcPts val="95"/>
              </a:spcBef>
              <a:buFont typeface="+mj-lt"/>
              <a:buAutoNum type="arabicPeriod"/>
            </a:pPr>
            <a:r>
              <a:rPr lang="en-IN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Search Contact</a:t>
            </a:r>
            <a:endParaRPr lang="en-IN" sz="14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8FF8F7-1F94-D6F8-0172-9914A2ED7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7412" name="image19.png">
            <a:extLst>
              <a:ext uri="{FF2B5EF4-FFF2-40B4-BE49-F238E27FC236}">
                <a16:creationId xmlns:a16="http://schemas.microsoft.com/office/drawing/2014/main" id="{4D780E5A-6317-500E-F788-71F538BE1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424" y="3885293"/>
            <a:ext cx="5834077" cy="2972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C33A15F-0A5E-0D3E-53FD-A8E9CCEEC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0130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922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CABE858-DFC9-CB81-BF99-E2A94FFDD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5452" y="22459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Get The Current User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433" name="image20.png">
            <a:extLst>
              <a:ext uri="{FF2B5EF4-FFF2-40B4-BE49-F238E27FC236}">
                <a16:creationId xmlns:a16="http://schemas.microsoft.com/office/drawing/2014/main" id="{2FA5A121-7A7C-B729-0EDE-227CA0E80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104" y="592255"/>
            <a:ext cx="7595791" cy="3351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60B159CA-8A5E-159A-35D6-71F3C5408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652" y="291381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0E88A8-C2C3-C341-D23D-0CDCEF7B723F}"/>
              </a:ext>
            </a:extLst>
          </p:cNvPr>
          <p:cNvSpPr txBox="1"/>
          <p:nvPr/>
        </p:nvSpPr>
        <p:spPr>
          <a:xfrm>
            <a:off x="964276" y="4626194"/>
            <a:ext cx="6749934" cy="163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142365">
              <a:lnSpc>
                <a:spcPct val="88000"/>
              </a:lnSpc>
              <a:spcBef>
                <a:spcPts val="95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Project Demo 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R="1142365">
              <a:lnSpc>
                <a:spcPct val="88000"/>
              </a:lnSpc>
              <a:spcBef>
                <a:spcPts val="95"/>
              </a:spcBef>
              <a:buNone/>
            </a:pPr>
            <a:r>
              <a:rPr lang="en-IN" sz="1800" u="sng" dirty="0">
                <a:solidFill>
                  <a:srgbClr val="0000E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3"/>
              </a:rPr>
              <a:t>Contact </a:t>
            </a:r>
            <a:r>
              <a:rPr lang="en-IN" sz="1800" u="sng" dirty="0" err="1">
                <a:solidFill>
                  <a:srgbClr val="0000E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3"/>
              </a:rPr>
              <a:t>Manager.webm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R="1142365">
              <a:lnSpc>
                <a:spcPct val="88000"/>
              </a:lnSpc>
              <a:spcBef>
                <a:spcPts val="95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R="1142365">
              <a:lnSpc>
                <a:spcPct val="88000"/>
              </a:lnSpc>
              <a:spcBef>
                <a:spcPts val="95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Code Link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R="1142365">
              <a:lnSpc>
                <a:spcPct val="88000"/>
              </a:lnSpc>
              <a:spcBef>
                <a:spcPts val="95"/>
              </a:spcBef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buNone/>
            </a:pPr>
            <a:r>
              <a:rPr lang="en-IN" sz="1800" u="sng" dirty="0">
                <a:solidFill>
                  <a:srgbClr val="0000E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4"/>
              </a:rPr>
              <a:t>Contact-Manager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29426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1955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824845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103</TotalTime>
  <Words>1252</Words>
  <Application>Microsoft Office PowerPoint</Application>
  <PresentationFormat>Widescreen</PresentationFormat>
  <Paragraphs>201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Andika</vt:lpstr>
      <vt:lpstr>Arial</vt:lpstr>
      <vt:lpstr>Arial Unicode MS</vt:lpstr>
      <vt:lpstr>Roboto Mono</vt:lpstr>
      <vt:lpstr>Trebuchet MS</vt:lpstr>
      <vt:lpstr>Wingdings 3</vt:lpstr>
      <vt:lpstr>Facet</vt:lpstr>
      <vt:lpstr>ConnectHub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ELCOT</dc:creator>
  <cp:lastModifiedBy>deepikamadhaiyan2007@outlook.com</cp:lastModifiedBy>
  <cp:revision>1</cp:revision>
  <dcterms:created xsi:type="dcterms:W3CDTF">2026-03-03T14:34:41Z</dcterms:created>
  <dcterms:modified xsi:type="dcterms:W3CDTF">2026-03-03T16:17:52Z</dcterms:modified>
</cp:coreProperties>
</file>